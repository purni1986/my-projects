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8" r:id="rId3"/>
    <p:sldId id="259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726" autoAdjust="0"/>
  </p:normalViewPr>
  <p:slideViewPr>
    <p:cSldViewPr snapToGrid="0">
      <p:cViewPr varScale="1">
        <p:scale>
          <a:sx n="87" d="100"/>
          <a:sy n="87" d="100"/>
        </p:scale>
        <p:origin x="48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C577-3CE3-50E2-5BE8-473FC2522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8414F-E9B7-B853-E364-C8231D0E2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EB887-5FA0-D079-33FC-3B2E38EE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F011E-AF23-6BB6-74EE-622498ED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765CE-825C-D6C6-737A-BFE980A0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5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41BF-639F-740C-0883-5CB9F4CE2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15FC2-3C72-26C7-5167-182BAA989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803C5-9820-590D-7137-A4B44DD44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01044-2AAE-F87D-C700-7682825F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901F8-7981-09FA-D0C1-DA417FE4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24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593E-FF51-7DC0-8E7E-D83E70A07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8465E-B025-44B1-4982-C0A2BE8C4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E3C6B-9098-451D-FD9F-78C68642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56FAC-A838-8A8D-46B2-1CF1496D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EC817-A964-1E5F-D02C-8AD6F48C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D9E0-29EA-07E2-1CDA-AF439B4F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14EBF-8FB4-5E85-4536-38BD7E0739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10FE0-EADD-D520-EA4A-71A38E463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BEDDE-5C73-D277-62CC-65BEB9BC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A54B4-84F2-0AE8-BFE3-978D2D9F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48866-BEF9-34EA-FD77-1D65173BE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2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5C10-6366-4CDF-7300-EAB4D07D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EDCD7-77DD-84AA-2B50-DE8A5E04F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D6895-0484-38FC-2EF8-6E6500441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ECB1A-66A2-9E28-10EE-CDD9B28A9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E9A45-2719-36F3-40E9-E7F6AF4F1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1435D-CCDC-1C19-C8B8-EB964344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5B9763-D562-BE1A-9363-BCD2FA08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F58CB-8AD4-846A-0868-8DFE1F85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698A6-73AF-B300-0D6A-4C4D2590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20294-2DD5-3611-1660-C233B7C3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44BB6-5672-D895-DB9A-1FA881D7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EDAE0-924E-8AE9-68B8-7FAB8922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9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7888A-BA88-3CE9-0356-EE29AA75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860C1-ED48-767A-0785-5EFB84EB9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B62F5-76BA-F628-A5D5-8C3A8AEC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4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0A355-377B-0C02-24E0-817E520A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1F170-4B8A-2083-A25A-69BD67E3A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85121-A7D2-3D00-FA79-2EB6C162C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09919-775F-5E70-0091-230431CC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CD08C-EFC1-11F2-6570-0A79EF86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4DE86-B4F0-8911-0811-42CADED1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5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6CAF-5B7C-DDAA-C86D-A269F68B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859533-FAD3-F06B-A093-4010E3597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D84A4-4F06-C4BC-6B5B-75F94FE9C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12069-C1EC-BB6C-3C7C-E7FBADC57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998C4-3CED-336B-C6DE-B0E4531B0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9EBF9-B367-70DA-3BAB-A0511F98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3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C8AF-8F31-2A1E-7EA8-03EFAEC84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905AB-CA7F-A521-279B-01021FDA8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7609F-CC87-DEA2-3CF9-1F37ABC4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7117B-E6E9-81B2-6346-6DA21C9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D5AAC-200C-0967-21B2-CD7D448A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273B58-7005-BA21-F6E3-068D70E83D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4BCD9-E248-564E-24F6-2C76BFDEC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B0458-985D-F6FC-EEC9-6BB22F35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D280-8C61-4919-643D-02EB89B0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824F4-C5B2-36C3-DE7F-ED831B3E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86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9376E-0BD9-FBE8-DAD6-EED72AD5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FEE0-A0F7-88F8-B4BA-D235575E8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73E-31DB-A154-4619-FD6C94253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E2EA6-9A58-4AE0-98DE-7F04C2084BC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B9684-B72E-7526-93D8-1EE59AF23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756C8-FCA4-153F-566D-48D37344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DC494-6160-4A03-BB09-B7D08AE07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4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49D80-52AA-7052-10A4-B4155AB0B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Users">
            <a:extLst>
              <a:ext uri="{FF2B5EF4-FFF2-40B4-BE49-F238E27FC236}">
                <a16:creationId xmlns:a16="http://schemas.microsoft.com/office/drawing/2014/main" id="{689F7146-76C1-F4EB-3D8B-12AD72897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675" y="1410905"/>
            <a:ext cx="4032621" cy="4032621"/>
          </a:xfrm>
          <a:prstGeom prst="rect">
            <a:avLst/>
          </a:prstGeom>
        </p:spPr>
      </p:pic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7A0F9-6D34-3551-E7B1-DA3BFA6A2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pPr algn="ctr"/>
            <a:r>
              <a:rPr lang="en-US" sz="5000">
                <a:solidFill>
                  <a:schemeClr val="tx2"/>
                </a:solidFill>
              </a:rPr>
              <a:t>Analysis of Technical challenges </a:t>
            </a:r>
            <a:endParaRPr lang="en-US" sz="50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877C4-73A5-23F2-3B0F-B900507DE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433" y="3502959"/>
            <a:ext cx="4370103" cy="2728198"/>
          </a:xfrm>
        </p:spPr>
        <p:txBody>
          <a:bodyPr anchor="t">
            <a:normAutofit/>
          </a:bodyPr>
          <a:lstStyle/>
          <a:p>
            <a:pPr marL="463550" lvl="1" indent="0" algn="ctr">
              <a:spcBef>
                <a:spcPts val="0"/>
              </a:spcBef>
              <a:buSzPts val="3500"/>
              <a:buNone/>
            </a:pPr>
            <a:r>
              <a:rPr lang="en-US" sz="3200" dirty="0">
                <a:solidFill>
                  <a:schemeClr val="tx2"/>
                </a:solidFill>
              </a:rPr>
              <a:t>TEAM 13- GROUPBY LEGENDS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7613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523DE-BF9C-9B91-F8D0-EC875E1B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5"/>
            <a:ext cx="4646904" cy="16715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Understanding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B1177-30BE-EE22-265B-FBAED2EF4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021746"/>
            <a:ext cx="4646905" cy="4897800"/>
          </a:xfrm>
        </p:spPr>
        <p:txBody>
          <a:bodyPr anchor="ctr">
            <a:normAutofit/>
          </a:bodyPr>
          <a:lstStyle/>
          <a:p>
            <a:pPr marL="457200" lvl="0" indent="-450850">
              <a:spcBef>
                <a:spcPts val="0"/>
              </a:spcBef>
              <a:buSzPts val="35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Study about  the meaning of some of the columns that could be used for analysis.</a:t>
            </a:r>
          </a:p>
          <a:p>
            <a:pPr marL="457200" lvl="0" indent="-450850">
              <a:spcBef>
                <a:spcPts val="0"/>
              </a:spcBef>
              <a:buSzPts val="3500"/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2"/>
              </a:solidFill>
            </a:endParaRPr>
          </a:p>
          <a:p>
            <a:pPr marL="457200" lvl="0" indent="-450850">
              <a:spcBef>
                <a:spcPts val="0"/>
              </a:spcBef>
              <a:buSzPts val="35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Meaning of </a:t>
            </a:r>
            <a:r>
              <a:rPr lang="en-US" sz="2400" dirty="0" err="1">
                <a:solidFill>
                  <a:schemeClr val="tx2"/>
                </a:solidFill>
              </a:rPr>
              <a:t>TransmitterTime</a:t>
            </a:r>
            <a:r>
              <a:rPr lang="en-US" sz="2400" dirty="0">
                <a:solidFill>
                  <a:schemeClr val="tx2"/>
                </a:solidFill>
              </a:rPr>
              <a:t> in Dexcom table and how it can be used for analysis.</a:t>
            </a:r>
          </a:p>
          <a:p>
            <a:pPr marL="457200" lvl="0" indent="-450850">
              <a:spcBef>
                <a:spcPts val="0"/>
              </a:spcBef>
              <a:buSzPts val="3500"/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2"/>
              </a:solidFill>
            </a:endParaRPr>
          </a:p>
          <a:p>
            <a:pPr marL="457200" lvl="0" indent="-450850">
              <a:spcBef>
                <a:spcPts val="0"/>
              </a:spcBef>
              <a:buSzPts val="35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Confusion between </a:t>
            </a:r>
            <a:r>
              <a:rPr lang="en-US" sz="2400" dirty="0" err="1">
                <a:solidFill>
                  <a:schemeClr val="tx2"/>
                </a:solidFill>
              </a:rPr>
              <a:t>Timeof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dirty="0" err="1">
                <a:solidFill>
                  <a:schemeClr val="tx2"/>
                </a:solidFill>
              </a:rPr>
              <a:t>Timebegin</a:t>
            </a:r>
            <a:r>
              <a:rPr lang="en-US" sz="2400" dirty="0">
                <a:solidFill>
                  <a:schemeClr val="tx2"/>
                </a:solidFill>
              </a:rPr>
              <a:t> in </a:t>
            </a:r>
            <a:r>
              <a:rPr lang="en-US" sz="2400" dirty="0" err="1">
                <a:solidFill>
                  <a:schemeClr val="tx2"/>
                </a:solidFill>
              </a:rPr>
              <a:t>foodlog</a:t>
            </a:r>
            <a:r>
              <a:rPr lang="en-US" sz="2400" dirty="0">
                <a:solidFill>
                  <a:schemeClr val="tx2"/>
                </a:solidFill>
              </a:rPr>
              <a:t> table. </a:t>
            </a:r>
          </a:p>
          <a:p>
            <a:pPr marL="463550" lvl="1" indent="0">
              <a:spcBef>
                <a:spcPts val="0"/>
              </a:spcBef>
              <a:buSzPts val="3500"/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463550" lvl="1" indent="0">
              <a:spcBef>
                <a:spcPts val="0"/>
              </a:spcBef>
              <a:buSzPts val="3500"/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4" descr="Files in folders">
            <a:extLst>
              <a:ext uri="{FF2B5EF4-FFF2-40B4-BE49-F238E27FC236}">
                <a16:creationId xmlns:a16="http://schemas.microsoft.com/office/drawing/2014/main" id="{C582D161-C6EA-3F4D-2DF1-8477AB28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20" r="1947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4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79348-7C2F-7E42-1552-003C4DA0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Schema creation and Data Cleaning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975E2-78F5-4C86-2774-C65256F1D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914400" lvl="1" indent="-450850">
              <a:spcBef>
                <a:spcPts val="0"/>
              </a:spcBef>
              <a:buSzPts val="35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Changing data types of </a:t>
            </a:r>
            <a:r>
              <a:rPr lang="en-US" dirty="0" err="1">
                <a:solidFill>
                  <a:schemeClr val="tx2"/>
                </a:solidFill>
              </a:rPr>
              <a:t>timeof</a:t>
            </a:r>
            <a:r>
              <a:rPr lang="en-US" dirty="0">
                <a:solidFill>
                  <a:schemeClr val="tx2"/>
                </a:solidFill>
              </a:rPr>
              <a:t> column in many tables due to inconsistencies in their  date formats.</a:t>
            </a:r>
          </a:p>
          <a:p>
            <a:pPr marL="806450" lvl="1" indent="-342900">
              <a:spcBef>
                <a:spcPts val="0"/>
              </a:spcBef>
              <a:buSzPts val="3500"/>
              <a:buFont typeface="Wingdings" panose="05000000000000000000" pitchFamily="2" charset="2"/>
              <a:buChar char="q"/>
            </a:pPr>
            <a:endParaRPr lang="en-US" dirty="0">
              <a:solidFill>
                <a:schemeClr val="tx2"/>
              </a:solidFill>
            </a:endParaRPr>
          </a:p>
          <a:p>
            <a:pPr marL="914400" lvl="1" indent="-450850">
              <a:spcBef>
                <a:spcPts val="0"/>
              </a:spcBef>
              <a:buSzPts val="35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Recovering the lost data from one database to another  using </a:t>
            </a:r>
            <a:r>
              <a:rPr lang="en-US" dirty="0" err="1">
                <a:solidFill>
                  <a:schemeClr val="tx2"/>
                </a:solidFill>
              </a:rPr>
              <a:t>dblink</a:t>
            </a:r>
            <a:r>
              <a:rPr lang="en-US" dirty="0">
                <a:solidFill>
                  <a:schemeClr val="tx2"/>
                </a:solidFill>
              </a:rPr>
              <a:t> extension to recover the original date format.</a:t>
            </a:r>
          </a:p>
          <a:p>
            <a:pPr marL="463550" lvl="1" indent="0">
              <a:spcBef>
                <a:spcPts val="0"/>
              </a:spcBef>
              <a:buSzPts val="3500"/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A digital stock market graph">
            <a:extLst>
              <a:ext uri="{FF2B5EF4-FFF2-40B4-BE49-F238E27FC236}">
                <a16:creationId xmlns:a16="http://schemas.microsoft.com/office/drawing/2014/main" id="{68392BE3-5CF5-7D5C-81DE-3D50FA40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63" r="7929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627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C3442-7DB5-9AAD-000B-8B29710D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Query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7759B-7099-19C6-9DCE-92605D0F6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2"/>
                </a:solidFill>
              </a:rPr>
              <a:t>For query optimization, we reduced the size of the tables by calculating the minute wise average of the following parameters for the patients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                      1. </a:t>
            </a:r>
            <a:r>
              <a:rPr lang="en-US" sz="2600" dirty="0" err="1">
                <a:solidFill>
                  <a:schemeClr val="tx2"/>
                </a:solidFill>
              </a:rPr>
              <a:t>HeartRate</a:t>
            </a:r>
            <a:endParaRPr lang="en-US" sz="2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                      2. IBI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                      3. EDA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                      4. Temperature.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Research">
            <a:extLst>
              <a:ext uri="{FF2B5EF4-FFF2-40B4-BE49-F238E27FC236}">
                <a16:creationId xmlns:a16="http://schemas.microsoft.com/office/drawing/2014/main" id="{3C8D1539-94A5-0F5A-2137-DCDC5946D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29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15EC3-6BAF-454E-8787-B9613194B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2" y="0"/>
            <a:ext cx="4977976" cy="1454051"/>
          </a:xfrm>
        </p:spPr>
        <p:txBody>
          <a:bodyPr>
            <a:normAutofit/>
          </a:bodyPr>
          <a:lstStyle/>
          <a:p>
            <a:r>
              <a:rPr lang="en" sz="33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Writing queries for each of the three categories</a:t>
            </a:r>
            <a:endParaRPr lang="en-US" sz="33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61ECA-8ED3-D03F-F07F-55190CB56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1454052"/>
            <a:ext cx="5162743" cy="5048348"/>
          </a:xfrm>
        </p:spPr>
        <p:txBody>
          <a:bodyPr anchor="ctr">
            <a:noAutofit/>
          </a:bodyPr>
          <a:lstStyle/>
          <a:p>
            <a:pPr marL="914400" lvl="1" indent="-45085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5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Grouped queries that resulted in categorical outputs as simple queries.</a:t>
            </a:r>
          </a:p>
          <a:p>
            <a:pPr marL="914400" lvl="1" indent="-45085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5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Usage of window functions for writing intermediate queries.</a:t>
            </a:r>
          </a:p>
          <a:p>
            <a:pPr marL="914400" lvl="1" indent="-45085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5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Creating smaller tables for writing Stored procedures, functions and triggers as advanced queries.</a:t>
            </a:r>
          </a:p>
          <a:p>
            <a:pPr marL="914400" lvl="1" indent="-45085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500"/>
              <a:buFont typeface="Wingdings" panose="05000000000000000000" pitchFamily="2" charset="2"/>
              <a:buChar char="q"/>
            </a:pPr>
            <a:r>
              <a:rPr lang="en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Comparing insights from queries across categories to see that there are no repetitions.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3C02D447-7FF6-518D-F22F-D835420B2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6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D9679-1044-99A9-A7F7-BD6C38A1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423781" cy="4480726"/>
          </a:xfrm>
        </p:spPr>
        <p:txBody>
          <a:bodyPr>
            <a:normAutofit/>
          </a:bodyPr>
          <a:lstStyle/>
          <a:p>
            <a:pPr algn="ctr"/>
            <a:r>
              <a:rPr lang="en" sz="5100" dirty="0">
                <a:solidFill>
                  <a:schemeClr val="tx2"/>
                </a:solidFill>
              </a:rPr>
              <a:t>Key Takeaways</a:t>
            </a:r>
            <a:endParaRPr lang="en-US" sz="5100" dirty="0">
              <a:solidFill>
                <a:schemeClr val="tx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33F94-2DAC-BE45-8431-D1E9E3666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914400" lvl="1" indent="-450850">
              <a:spcBef>
                <a:spcPts val="0"/>
              </a:spcBef>
              <a:spcAft>
                <a:spcPts val="600"/>
              </a:spcAft>
              <a:buSzPts val="35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Use SELECT command to check results before changing datatypes or changing format of data to desired format.</a:t>
            </a:r>
          </a:p>
          <a:p>
            <a:pPr marL="914400" lvl="1" indent="-450850">
              <a:spcBef>
                <a:spcPts val="0"/>
              </a:spcBef>
              <a:spcAft>
                <a:spcPts val="600"/>
              </a:spcAft>
              <a:buSzPts val="35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Spend time in understanding the dataset and schema creation </a:t>
            </a:r>
          </a:p>
          <a:p>
            <a:pPr marL="914400" lvl="1" indent="-450850">
              <a:spcBef>
                <a:spcPts val="0"/>
              </a:spcBef>
              <a:spcAft>
                <a:spcPts val="600"/>
              </a:spcAft>
              <a:buSzPts val="35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Learning to use window functions for our analysis.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383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ED726695-7566-C8B1-A888-801F31945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71D0-58CB-A398-59A6-20C8D5491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302" y="1410214"/>
            <a:ext cx="5754896" cy="3197464"/>
          </a:xfrm>
        </p:spPr>
        <p:txBody>
          <a:bodyPr anchor="t"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</a:t>
            </a:r>
            <a:r>
              <a:rPr lang="en-US" sz="6000" dirty="0">
                <a:solidFill>
                  <a:schemeClr val="tx2"/>
                </a:solidFill>
              </a:rPr>
              <a:t>Thank you!!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</TotalTime>
  <Words>234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Analysis of Technical challenges </vt:lpstr>
      <vt:lpstr>Understanding the dataset</vt:lpstr>
      <vt:lpstr>Schema creation and Data Cleaning</vt:lpstr>
      <vt:lpstr>Query optimization</vt:lpstr>
      <vt:lpstr>Writing queries for each of the three categories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Purnima Chandrasekaran</dc:creator>
  <cp:lastModifiedBy>Purnima Chandrasekaran</cp:lastModifiedBy>
  <cp:revision>7</cp:revision>
  <dcterms:created xsi:type="dcterms:W3CDTF">2025-10-13T22:10:06Z</dcterms:created>
  <dcterms:modified xsi:type="dcterms:W3CDTF">2025-10-15T02:49:06Z</dcterms:modified>
</cp:coreProperties>
</file>